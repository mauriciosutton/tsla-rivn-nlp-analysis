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Net Sentiment (percentage points)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Tesla (TSLA)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Call</c:v>
                  </c:pt>
                  <c:pt idx="1">
                    <c:v>Mgmt. Discussion</c:v>
                  </c:pt>
                  <c:pt idx="2">
                    <c:v>Q&amp;A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0.99</c:v>
                </c:pt>
                <c:pt idx="2">
                  <c:v>-0.22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Rivian (RIVN)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Call</c:v>
                  </c:pt>
                  <c:pt idx="1">
                    <c:v>Mgmt. Discussion</c:v>
                  </c:pt>
                  <c:pt idx="2">
                    <c:v>Q&amp;A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</c:v>
                </c:pt>
                <c:pt idx="1">
                  <c:v>1.62</c:v>
                </c:pt>
                <c:pt idx="2">
                  <c:v>1.15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9"/>
                    </a:solidFill>
                    <a:latin typeface="Arial"/>
                  </a:rPr>
                  <a:t>Positive minus Negative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Gunning Fog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Tesla (TSLA)</c:v>
                  </c:pt>
                  <c:pt idx="1">
                    <c:v>Rivian (RIVN)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12.22</c:v>
                </c:pt>
                <c:pt idx="1">
                  <c:v>14.86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Tesla (TSLA)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Item 7 (MD&amp;A)</c:v>
                  </c:pt>
                  <c:pt idx="1">
                    <c:v>Item 1A (Risk Factors)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0.84</c:v>
                </c:pt>
                <c:pt idx="1">
                  <c:v>0.996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Rivian (RIVN)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Item 7 (MD&amp;A)</c:v>
                  </c:pt>
                  <c:pt idx="1">
                    <c:v>Item 1A (Risk Factors)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0.869</c:v>
                </c:pt>
                <c:pt idx="1">
                  <c:v>0.984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5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7"/>
        </c:scaling>
        <c:delete val="0"/>
        <c:axPos val="l"/>
        <c:majorGridlines>
          <c:spPr>
            <a:ln w="12700" cap="flat">
              <a:solidFill>
                <a:srgbClr val="E4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640080"/>
            <a:ext cx="36576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263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TSLA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NLP CASE STUDY — APPROACH &amp; RESULTS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1645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vs. Rivian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Language in 10-K Filings &amp; Earnings Calls with NLP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5257800"/>
            <a:ext cx="1869034" cy="457200"/>
          </a:xfrm>
          <a:prstGeom prst="roundRect">
            <a:avLst>
              <a:gd name="adj" fmla="val 50000"/>
            </a:avLst>
          </a:prstGeom>
          <a:solidFill>
            <a:srgbClr val="2A35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257800"/>
            <a:ext cx="1869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10282" y="5257800"/>
            <a:ext cx="1958645" cy="457200"/>
          </a:xfrm>
          <a:prstGeom prst="roundRect">
            <a:avLst>
              <a:gd name="adj" fmla="val 50000"/>
            </a:avLst>
          </a:prstGeom>
          <a:solidFill>
            <a:srgbClr val="2A35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0282" y="5257800"/>
            <a:ext cx="19586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Scoring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70094" y="5257800"/>
            <a:ext cx="2496312" cy="457200"/>
          </a:xfrm>
          <a:prstGeom prst="roundRect">
            <a:avLst>
              <a:gd name="adj" fmla="val 50000"/>
            </a:avLst>
          </a:prstGeom>
          <a:solidFill>
            <a:srgbClr val="2A35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0094" y="52578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Similarity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67574" y="5257800"/>
            <a:ext cx="1689811" cy="457200"/>
          </a:xfrm>
          <a:prstGeom prst="roundRect">
            <a:avLst>
              <a:gd name="adj" fmla="val 50000"/>
            </a:avLst>
          </a:prstGeom>
          <a:solidFill>
            <a:srgbClr val="2A35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7574" y="5257800"/>
            <a:ext cx="16898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Extraction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10-K Item 1A &amp; Item 7 (FY2023–FY2024) · Earnings call transcripts · CEO/CFO prepared remarks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/home/claude/pptx_build/icon_g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1625803"/>
            <a:ext cx="451714" cy="451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3716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each company's own language reveal about how it frames risk, performance, and outlook — and how does that framing shift year over year?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3584448" cy="3063240"/>
          </a:xfrm>
          <a:prstGeom prst="roundRect">
            <a:avLst>
              <a:gd name="adj" fmla="val 2388"/>
            </a:avLst>
          </a:prstGeom>
          <a:solidFill>
            <a:srgbClr val="EAF2F5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3063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7033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Companies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(TSLA) and Rivian (RIVN) — an established EV leader vs. a newer challenger, compared on equal footing.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2788920"/>
            <a:ext cx="3584448" cy="3063240"/>
          </a:xfrm>
          <a:prstGeom prst="roundRect">
            <a:avLst>
              <a:gd name="adj" fmla="val 2388"/>
            </a:avLst>
          </a:prstGeom>
          <a:solidFill>
            <a:srgbClr val="EAF2F5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3063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37033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Document Types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63440" y="416052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10-K filings (formal, legally reviewed) vs. earnings call transcripts (spontaneous, investor-facing).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0" y="2788920"/>
            <a:ext cx="3584448" cy="3063240"/>
          </a:xfrm>
          <a:prstGeom prst="roundRect">
            <a:avLst>
              <a:gd name="adj" fmla="val 2388"/>
            </a:avLst>
          </a:prstGeom>
          <a:solidFill>
            <a:srgbClr val="EAF2F5"/>
          </a:solidFill>
          <a:ln/>
        </p:spPr>
      </p:sp>
      <p:sp>
        <p:nvSpPr>
          <p:cNvPr id="15" name="Shape 12"/>
          <p:cNvSpPr/>
          <p:nvPr/>
        </p:nvSpPr>
        <p:spPr>
          <a:xfrm>
            <a:off x="8503920" y="3063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37033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Fiscal Years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503920" y="416052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 vs. FY2024 10-K sections, to see how each company's own language evolved year over year.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text sources per company, spanning formal filings to spontaneous commentary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x_build/icon_fil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20153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830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10-K Filings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1945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1A (Risk Factors) and Item 7 (MD&amp;A), for both FY2023 and FY2024 — extracted directly from each company's PDF filing by page range.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ptx_build/icon_earn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343265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2004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Call Transcripts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6118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quarterly call for each company, split into the Management Discussion section and the Q&amp;A section.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pptx_build/icon_c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484997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6177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/ CFO Prepared Remarks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502920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written comments from each company's CEO and CFO, analyzed separately to compare leadership tone.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moves through the same four stages before comparison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283467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2011680"/>
            <a:ext cx="640080" cy="64008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text from PDFs (10-Ks, transcripts) by page range or section marker.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72968" y="333756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47288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283467"/>
          </a:solidFill>
          <a:ln/>
        </p:spPr>
      </p:sp>
      <p:sp>
        <p:nvSpPr>
          <p:cNvPr id="11" name="Shape 9"/>
          <p:cNvSpPr/>
          <p:nvPr/>
        </p:nvSpPr>
        <p:spPr>
          <a:xfrm>
            <a:off x="4384548" y="2011680"/>
            <a:ext cx="640080" cy="64008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454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30168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75888" y="32918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regex cleaning: HTML/markdown artifacts, boilerplate, speaker labels, whitespace.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0176" y="333756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54496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28346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91756" y="2011680"/>
            <a:ext cx="640080" cy="64008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175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37376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83096" y="32918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document for sentiment, readability, similarity, and topics.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87384" y="333756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61704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283467"/>
          </a:solidFill>
          <a:ln/>
        </p:spPr>
      </p:sp>
      <p:sp>
        <p:nvSpPr>
          <p:cNvPr id="23" name="Shape 21"/>
          <p:cNvSpPr/>
          <p:nvPr/>
        </p:nvSpPr>
        <p:spPr>
          <a:xfrm>
            <a:off x="9998964" y="2011680"/>
            <a:ext cx="640080" cy="64008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9896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44584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290304" y="32918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results up across company and fiscal year to surface differences.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sent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Sentiment Analysis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independent, complementary scoring approaches applied to every text source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AF2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103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Loughran-McDonald (LM) Dictionary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5877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Finance-specific lexicon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4709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10-Ks and other financial disclosures — avoids the false positives general dictionaries produce on financial language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document across seven categories: positive, negative, uncertainty, litigious, strong modal, weak modal, and constraining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scores are reported as a percentage of total dictionary-matched words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8745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AF2F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103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Bing Liu Opinion Lexicon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0" y="25877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sentiment + negation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3017520"/>
            <a:ext cx="4709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positive/negative word list (via NLTK), used as an independent check against the finance-specific LM score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single averaged sentiment score per document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a negation-word count, since 'not strong' and 'strong' should not score identically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read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Readability Scoring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Gunning Fog Index, applied to each company's earnings call transcript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Fog = 0.4 × ( words ÷ sentences  +  100 × complex words ÷ words 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harder to read. A word counts as “complex” if it has 3 or more syllables.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1874520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get an extra cleaning pass first</a:t>
            </a:r>
            <a:endParaRPr lang="en-US" sz="1350" dirty="0"/>
          </a:p>
          <a:p>
            <a:pPr lvl="1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speaker/title labels (e.g. “Elon Musk, Chief Executive Officer”), timestamps, and boilerplate that would otherwise distort sentence and word counts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Syllables are estimated with a vowel-cluster heuristic</a:t>
            </a:r>
            <a:endParaRPr lang="en-US" sz="13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approximation rather than a phonetic dictionary lookup — fast, but not exact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EAF2F5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70916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is used as a proxy for communication style — a persistently high Fog score can suggest denser, more technical language, while a lower score suggests plainer, more direct communication with investors.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simil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Year-over-Year Similarity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the wording of each 10-K section change between FY2023 and FY2024?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AF2F5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Vectorize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 built per 10-K section, across both companies and both years, with common stopwords removed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AF2F5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Score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572000" y="2606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computed between each company's 2023 and 2024 vector, for Item 1A and Item 7 separately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3816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8366760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Interpret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366760" y="2606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near 1.0 = little year-over-year change in wording; score near 0 = substantial rewording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comparisons produced per fiscal-year pair: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22960" y="4800600"/>
            <a:ext cx="1865376" cy="548640"/>
          </a:xfrm>
          <a:prstGeom prst="roundRect">
            <a:avLst>
              <a:gd name="adj" fmla="val 50000"/>
            </a:avLst>
          </a:prstGeom>
          <a:solidFill>
            <a:srgbClr val="28346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0060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— Item 7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916936" y="4800600"/>
            <a:ext cx="1965960" cy="548640"/>
          </a:xfrm>
          <a:prstGeom prst="roundRect">
            <a:avLst>
              <a:gd name="adj" fmla="val 50000"/>
            </a:avLst>
          </a:prstGeom>
          <a:solidFill>
            <a:srgbClr val="28346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16936" y="4800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— Item 1A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111496" y="4800600"/>
            <a:ext cx="1965960" cy="548640"/>
          </a:xfrm>
          <a:prstGeom prst="roundRect">
            <a:avLst>
              <a:gd name="adj" fmla="val 50000"/>
            </a:avLst>
          </a:prstGeom>
          <a:solidFill>
            <a:srgbClr val="28346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11496" y="4800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— Item 7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06056" y="4800600"/>
            <a:ext cx="2066544" cy="548640"/>
          </a:xfrm>
          <a:prstGeom prst="roundRect">
            <a:avLst>
              <a:gd name="adj" fmla="val 50000"/>
            </a:avLst>
          </a:prstGeom>
          <a:solidFill>
            <a:srgbClr val="28346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06056" y="4800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— Item 1A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top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Topic Extraction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keyword ranking, applied to 10-K sections and earnings calls alike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11109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is ranked by TF-IDF weight; the top-scoring words serve as a lightweight proxy for its key topics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stopword list — combining standard English stopwords, a common-word frequency list, and manually identified finance/legal boilerplate — was built to filter out generic terms (“company,” “revenue”) and let more distinctive language surface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from 2023 and 2024 are then compared per company and section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02336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4572000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topics that appear only in 2024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374904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5B6B79"/>
          </a:solidFill>
          <a:ln/>
        </p:spPr>
      </p:sp>
      <p:sp>
        <p:nvSpPr>
          <p:cNvPr id="11" name="Text 8"/>
          <p:cNvSpPr/>
          <p:nvPr/>
        </p:nvSpPr>
        <p:spPr>
          <a:xfrm>
            <a:off x="4617720" y="402336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617720" y="4572000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present in 2023 but dropped by 2024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374904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8458200" y="402336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Unchanged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458200" y="4572000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that persisted across both years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x_build/icon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Executive Summary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17320" y="1097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headline findings from running the full pipeline on Tesla and Rivian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8346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0116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vs +1.3 pts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tone, full earnings call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call was sentiment-neutral overall; Rivian's skewed net positive.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83467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20116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 vs 14.9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9224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Gunning Fog readability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92240" y="30632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Rivian's call used denser, harder-to-read language than Tesla's.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4348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8346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6177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9/10 vs 3/10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22960" y="5257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7 topics unchanged YoY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2960" y="5669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MD&amp;A stayed on similar topics; Rivian's shifted the most.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44348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83467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46177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FSD &amp; Autonomy vs EBITDA &amp; Capex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492240" y="5257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earnings-call keywords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92240" y="5669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call leaned into a tech/autonomy narrative; Rivian's leaned into financial fundamentals.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sent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Sentiment by Section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tone (LM percent-positive minus percent-negative) across three call sections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726680" y="160020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EAF2F5"/>
          </a:solidFill>
          <a:ln/>
        </p:spPr>
      </p:sp>
      <p:sp>
        <p:nvSpPr>
          <p:cNvPr id="8" name="Text 4"/>
          <p:cNvSpPr/>
          <p:nvPr/>
        </p:nvSpPr>
        <p:spPr>
          <a:xfrm>
            <a:off x="795528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stands out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55280" y="219456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Q&amp;A is the only net-negative section in the whole analysis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Q&amp;A also has 89 negation-word hits vs. 31 for Rivian — far more “not / don't / can't”-style hedging under analyst questioning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Rivian's net tone stays positive in every section, including Q&amp;A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read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Readability &amp; Leadership Tone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Gunning Fog Index — full earnings call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harder to read. Both scores sit in the “fairly difficult” range typical of executive speech.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355080" y="1188720"/>
            <a:ext cx="5303520" cy="3703320"/>
          </a:xfrm>
          <a:prstGeom prst="roundRect">
            <a:avLst>
              <a:gd name="adj" fmla="val 1975"/>
            </a:avLst>
          </a:prstGeom>
          <a:solidFill>
            <a:srgbClr val="EAF2F5"/>
          </a:solidFill>
          <a:ln/>
        </p:spPr>
      </p:sp>
      <p:sp>
        <p:nvSpPr>
          <p:cNvPr id="9" name="Text 5"/>
          <p:cNvSpPr/>
          <p:nvPr/>
        </p:nvSpPr>
        <p:spPr>
          <a:xfrm>
            <a:off x="662940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Sentiment — CEO vs. CFO Remarks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6294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CEO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92440" y="1929384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E6EC"/>
          </a:solidFill>
          <a:ln/>
        </p:spPr>
      </p:sp>
      <p:sp>
        <p:nvSpPr>
          <p:cNvPr id="12" name="Shape 8"/>
          <p:cNvSpPr/>
          <p:nvPr/>
        </p:nvSpPr>
        <p:spPr>
          <a:xfrm>
            <a:off x="8092440" y="1929384"/>
            <a:ext cx="30982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13" name="Text 9"/>
          <p:cNvSpPr/>
          <p:nvPr/>
        </p:nvSpPr>
        <p:spPr>
          <a:xfrm>
            <a:off x="11384280" y="1874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62940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CFO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92440" y="2496312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E6EC"/>
          </a:solidFill>
          <a:ln/>
        </p:spPr>
      </p:sp>
      <p:sp>
        <p:nvSpPr>
          <p:cNvPr id="16" name="Shape 12"/>
          <p:cNvSpPr/>
          <p:nvPr/>
        </p:nvSpPr>
        <p:spPr>
          <a:xfrm>
            <a:off x="8092440" y="2496312"/>
            <a:ext cx="2052559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11384280" y="24414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629400" y="3008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CEO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92440" y="306324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E6EC"/>
          </a:solidFill>
          <a:ln/>
        </p:spPr>
      </p:sp>
      <p:sp>
        <p:nvSpPr>
          <p:cNvPr id="20" name="Shape 16"/>
          <p:cNvSpPr/>
          <p:nvPr/>
        </p:nvSpPr>
        <p:spPr>
          <a:xfrm>
            <a:off x="8092440" y="3063240"/>
            <a:ext cx="3253112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11384280" y="30083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629400" y="3575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CFO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92440" y="3630168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E6EC"/>
          </a:solidFill>
          <a:ln/>
        </p:spPr>
      </p:sp>
      <p:sp>
        <p:nvSpPr>
          <p:cNvPr id="24" name="Shape 20"/>
          <p:cNvSpPr/>
          <p:nvPr/>
        </p:nvSpPr>
        <p:spPr>
          <a:xfrm>
            <a:off x="8092440" y="3630168"/>
            <a:ext cx="1917013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11384280" y="35753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629400" y="42793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Rivian's CEO used the most net-positive language of any single speaker; Tesla's CEO the least.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simil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Year-over-Year Stability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vs. 2024 10-K sections: cosine similarity and how many of the top 10 topics persisted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(TF-IDF)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659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355080" y="160020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</p:sp>
      <p:sp>
        <p:nvSpPr>
          <p:cNvPr id="9" name="Text 5"/>
          <p:cNvSpPr/>
          <p:nvPr/>
        </p:nvSpPr>
        <p:spPr>
          <a:xfrm>
            <a:off x="6629400" y="17830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Top-10 Topics Unchanged Year-over-Year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62940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— Item 1A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458200" y="2569464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2A3566"/>
          </a:solidFill>
          <a:ln/>
        </p:spPr>
      </p:sp>
      <p:sp>
        <p:nvSpPr>
          <p:cNvPr id="12" name="Shape 8"/>
          <p:cNvSpPr/>
          <p:nvPr/>
        </p:nvSpPr>
        <p:spPr>
          <a:xfrm>
            <a:off x="8458200" y="2569464"/>
            <a:ext cx="2798064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13" name="Text 9"/>
          <p:cNvSpPr/>
          <p:nvPr/>
        </p:nvSpPr>
        <p:spPr>
          <a:xfrm>
            <a:off x="1165860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629400" y="3081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— Item 7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458200" y="3136392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2A3566"/>
          </a:solidFill>
          <a:ln/>
        </p:spPr>
      </p:sp>
      <p:sp>
        <p:nvSpPr>
          <p:cNvPr id="16" name="Shape 12"/>
          <p:cNvSpPr/>
          <p:nvPr/>
        </p:nvSpPr>
        <p:spPr>
          <a:xfrm>
            <a:off x="8458200" y="3136392"/>
            <a:ext cx="2487168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11658600" y="3081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629400" y="3648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— Item 1A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458200" y="3703320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2A3566"/>
          </a:solidFill>
          <a:ln/>
        </p:spPr>
      </p:sp>
      <p:sp>
        <p:nvSpPr>
          <p:cNvPr id="20" name="Shape 16"/>
          <p:cNvSpPr/>
          <p:nvPr/>
        </p:nvSpPr>
        <p:spPr>
          <a:xfrm>
            <a:off x="8458200" y="3703320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11658600" y="3648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629400" y="42153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— Item 7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458200" y="4270248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2A3566"/>
          </a:solidFill>
          <a:ln/>
        </p:spPr>
      </p:sp>
      <p:sp>
        <p:nvSpPr>
          <p:cNvPr id="24" name="Shape 20"/>
          <p:cNvSpPr/>
          <p:nvPr/>
        </p:nvSpPr>
        <p:spPr>
          <a:xfrm>
            <a:off x="8458200" y="42702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11658600" y="4215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629400" y="491947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(Item 1A) barely change either year — for both companies. Item 7 (MD&amp;A) moves more, and Rivian's shifted the most: only 3 of its top 10 words carried over.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ta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What Each Company Talked About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TF-IDF keywords from each company's most recent earnings call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916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— a tech &amp; autonomy narrative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514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technoking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57400" y="2514600"/>
            <a:ext cx="1069848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7400" y="251460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4408" y="2514600"/>
            <a:ext cx="667512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64408" y="2514600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81528"/>
            <a:ext cx="1572768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08152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58568" y="3081528"/>
            <a:ext cx="1170432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58568" y="308152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66160" y="3081528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66160" y="30815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648456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6484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057400" y="3648456"/>
            <a:ext cx="1069848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57400" y="364845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axelrod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64408" y="3648456"/>
            <a:ext cx="1069848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64408" y="364845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71416" y="3648456"/>
            <a:ext cx="969264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71416" y="3648456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taneja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17920" y="1691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6446520" y="16916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Rivian — a financial-fundamentals narrative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217920" y="2514600"/>
            <a:ext cx="1170432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251460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525512" y="2514600"/>
            <a:ext cx="768096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25512" y="251460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430768" y="251460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30768" y="25146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436608" y="2514600"/>
            <a:ext cx="969264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436608" y="2514600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217920" y="3081528"/>
            <a:ext cx="768096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0" y="3081528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123176" y="3081528"/>
            <a:ext cx="1472184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23176" y="3081528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732520" y="3081528"/>
            <a:ext cx="1271016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732520" y="308152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0140696" y="3081528"/>
            <a:ext cx="768096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40696" y="3081528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217920" y="3648456"/>
            <a:ext cx="1069848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17920" y="364845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genuity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7424928" y="3648456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24928" y="36484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gianarikas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AF2F5"/>
          </a:solidFill>
          <a:ln/>
        </p:spPr>
      </p:sp>
      <p:sp>
        <p:nvSpPr>
          <p:cNvPr id="51" name="Text 48"/>
          <p:cNvSpPr/>
          <p:nvPr/>
        </p:nvSpPr>
        <p:spPr>
          <a:xfrm>
            <a:off x="822960" y="5230368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contrast: Tesla's call centers on Full Self-Driving, Optimus, and autonomy — a product/technology story. Rivian's centers on COGS, CapEx, EBITDA, and GAAP — a cost-discipline and path-to-profitability story. “Autonomy” is the one word both calls share.</a:t>
            </a:r>
            <a:endParaRPr lang="en-US" sz="1250" dirty="0"/>
          </a:p>
        </p:txBody>
      </p:sp>
      <p:sp>
        <p:nvSpPr>
          <p:cNvPr id="52" name="Text 4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Technical Stack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Extraction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— PDF page reading &amp; text extraction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re (regex) — markup and pattern cleaning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8745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&amp; Language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Loughran-McDonald Master Dictionary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— opinion lexicon, tokenization, negation list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Vectorization &amp; Similarity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4663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TfidfVectorizer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cosine_similarity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39776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Stopwords &amp; Vocabulary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4663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English stopwords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stopwords + curated finance/name terms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x_build/icon_takea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17320" y="10972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method, the same pattern holds: Rivian communicates more consistently positive, Tesla shows more variation by section.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22585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tone is section-dependent — net-neutral on the full call, net-positive in prepared remarks, but the only net-negative result anywhere in this analysis shows up in Tesla's Q&amp;A, alongside nearly 3x the negation-word count of Rivian's Q&amp;A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5880" y="31729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Rivian's tone is consistently net-positive across every section and speaker, and its CEO's remarks carried the most net-positive language of any single speaker measured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25880" y="4087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Risk Factors (Item 1A) barely move year-over-year for either company (cosine similarity ≥ 0.98); Item 7 (MD&amp;A) moves more — especially for Rivian, where only 3 of 10 tracked topics carried over from 2023 to 2024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25880" y="50017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earnings calls tell different stories in their own words: Tesla's centers on autonomy/FSD/Optimus, Rivian's centers on COGS/CapEx/EBITDA — a tech narrative vs. a financial-discipline narrative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1A2247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989320"/>
            <a:ext cx="1056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10-K page ranges were located manually per filing; syllable counts for the Fog index are a heuristic, not a dictionary lookup; sentiment/readability are proxies, not direct measures of company performance.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Tesla vs. Rivian — NLP Analysis of 10-K Filings &amp; Earnings Calls</dc:title>
  <dc:subject>Financial NLP case study: sentiment, readability, year-over-year similarity, and topic extraction</dc:subject>
  <dc:creator>Mauricio Sutton</dc:creator>
  <cp:lastModifiedBy>Mauricio Sutton</cp:lastModifiedBy>
  <cp:revision>1</cp:revision>
  <dcterms:created xsi:type="dcterms:W3CDTF">2026-08-01T16:32:47Z</dcterms:created>
  <dcterms:modified xsi:type="dcterms:W3CDTF">2026-08-01T16:32:47Z</dcterms:modified>
</cp:coreProperties>
</file>